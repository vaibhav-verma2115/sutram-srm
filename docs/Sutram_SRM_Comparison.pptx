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607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Helvetica Neue"/>
              </a:rPr>
              <a:t>Sutram SRM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>
                <a:solidFill>
                  <a:srgbClr val="5AA8D6"/>
                </a:solidFill>
                <a:latin typeface="Helvetica Neue"/>
              </a:rPr>
              <a:t>Sentinel-2  10 m → 2.5 m  super-resolution with per-pixel trust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>
                <a:solidFill>
                  <a:srgbClr val="8B949E"/>
                </a:solidFill>
                <a:latin typeface="Helvetica Neue"/>
              </a:rPr>
              <a:t>Comparison and analysis against published models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389120"/>
            <a:ext cx="3108960" cy="1097280"/>
          </a:xfrm>
          <a:prstGeom prst="roundRect">
            <a:avLst>
              <a:gd name="adj" fmla="val 4000"/>
            </a:avLst>
          </a:prstGeom>
          <a:solidFill>
            <a:srgbClr val="16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Helvetica Neue"/>
              </a:rPr>
              <a:t>0.917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8CFDD"/>
                </a:solidFill>
                <a:latin typeface="Helvetica Neue"/>
              </a:rPr>
              <a:t>FIELD-BOUNDARY F1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4389120"/>
            <a:ext cx="3108960" cy="1097280"/>
          </a:xfrm>
          <a:prstGeom prst="roundRect">
            <a:avLst>
              <a:gd name="adj" fmla="val 4000"/>
            </a:avLst>
          </a:prstGeom>
          <a:solidFill>
            <a:srgbClr val="16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45720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Helvetica Neue"/>
              </a:rPr>
              <a:t>1st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50292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8CFDD"/>
                </a:solidFill>
                <a:latin typeface="Helvetica Neue"/>
              </a:rPr>
              <a:t>ON EVERY METRIC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4389120"/>
            <a:ext cx="3108960" cy="1097280"/>
          </a:xfrm>
          <a:prstGeom prst="roundRect">
            <a:avLst>
              <a:gd name="adj" fmla="val 4000"/>
            </a:avLst>
          </a:prstGeom>
          <a:solidFill>
            <a:srgbClr val="16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457200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Helvetica Neue"/>
              </a:rPr>
              <a:t>0.00 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502920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B8CFDD"/>
                </a:solidFill>
                <a:latin typeface="Helvetica Neue"/>
              </a:rPr>
              <a:t>GEOLOCATION DRIFT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350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8B949E"/>
                </a:solidFill>
                <a:latin typeface="Helvetica Neue"/>
              </a:rPr>
              <a:t>Team Sutram  ·  Smart India Hackathon  ·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4000"/>
            </a:avLst>
          </a:prstGeom>
          <a:solidFill>
            <a:srgbClr val="16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The landscape — what already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B8CFDD"/>
                </a:solidFill>
                <a:latin typeface="Helvetica Neue"/>
              </a:rPr>
              <a:t>Every open Sentinel-2 super-resolution model we evaluated or considered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43000"/>
          <a:ext cx="111556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920240"/>
                <a:gridCol w="1371600"/>
                <a:gridCol w="155448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Model / research</a:t>
                      </a:r>
                    </a:p>
                  </a:txBody>
                  <a:tcPr anchor="ctr" marL="82296" marT="18288" marB="18288">
                    <a:solidFill>
                      <a:srgbClr val="1650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Type</a:t>
                      </a:r>
                    </a:p>
                  </a:txBody>
                  <a:tcPr anchor="ctr" marL="82296" marT="18288" marB="18288">
                    <a:solidFill>
                      <a:srgbClr val="1650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Params</a:t>
                      </a:r>
                    </a:p>
                  </a:txBody>
                  <a:tcPr anchor="ctr" marL="82296" marT="18288" marB="18288">
                    <a:solidFill>
                      <a:srgbClr val="1650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Open?</a:t>
                      </a:r>
                    </a:p>
                  </a:txBody>
                  <a:tcPr anchor="ctr" marL="82296" marT="18288" marB="18288">
                    <a:solidFill>
                      <a:srgbClr val="1650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Status here</a:t>
                      </a:r>
                    </a:p>
                  </a:txBody>
                  <a:tcPr anchor="ctr" marL="82296" marT="18288" marB="18288">
                    <a:solidFill>
                      <a:srgbClr val="16506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SEN2SR  (Aybar et al., RSE 2025)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SPAN CNN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472 k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CC0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Benchmarked head-to-head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LDSR-S2  (Donike et al., JSTARS 2025)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Latent diffusion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169 M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Benchmarked head-to-head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Bicubic interpolation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Classical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Benchmarked (control)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S2DR3  (Gamma Earth)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Proprietary CNN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undisclosed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No — eval only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Cited, cannot benchmark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DiffFuSR  (arXiv 2506.11764)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Diffusion, 12-band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Cited, not run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SRGAN on S2  (Puri &amp; Kotze, AGILE 2022)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GAN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Paper only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Cited as prior baseline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4532D"/>
                          </a:solidFill>
                          <a:latin typeface="Helvetica Neue"/>
                        </a:rPr>
                        <a:t>Ours</a:t>
                      </a:r>
                    </a:p>
                  </a:txBody>
                  <a:tcPr anchor="ctr" marL="82296" marT="18288" marB="18288">
                    <a:solidFill>
                      <a:srgbClr val="E6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4532D"/>
                          </a:solidFill>
                          <a:latin typeface="Helvetica Neue"/>
                        </a:rPr>
                        <a:t>SPAN CNN, retrained</a:t>
                      </a:r>
                    </a:p>
                  </a:txBody>
                  <a:tcPr anchor="ctr" marL="82296" marT="18288" marB="18288">
                    <a:solidFill>
                      <a:srgbClr val="E6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4532D"/>
                          </a:solidFill>
                          <a:latin typeface="Helvetica Neue"/>
                        </a:rPr>
                        <a:t>572 k</a:t>
                      </a:r>
                    </a:p>
                  </a:txBody>
                  <a:tcPr anchor="ctr" marL="82296" marT="18288" marB="18288">
                    <a:solidFill>
                      <a:srgbClr val="E6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4532D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anchor="ctr" marL="82296" marT="18288" marB="18288">
                    <a:solidFill>
                      <a:srgbClr val="E6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4532D"/>
                          </a:solidFill>
                          <a:latin typeface="Helvetica Neue"/>
                        </a:rPr>
                        <a:t>This work</a:t>
                      </a:r>
                    </a:p>
                  </a:txBody>
                  <a:tcPr anchor="ctr" marL="82296" marT="18288" marB="18288">
                    <a:solidFill>
                      <a:srgbClr val="E6F2E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892040"/>
            <a:ext cx="11155680" cy="1417320"/>
          </a:xfrm>
          <a:prstGeom prst="roundRect">
            <a:avLst>
              <a:gd name="adj" fmla="val 4000"/>
            </a:avLst>
          </a:prstGeom>
          <a:solidFill>
            <a:srgbClr val="F4F8FA"/>
          </a:solidFill>
          <a:ln w="12700">
            <a:solidFill>
              <a:srgbClr val="C5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074920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0D1117"/>
                </a:solidFill>
                <a:latin typeface="Helvetica Neue"/>
              </a:rPr>
              <a:t>Honesty boundary</a:t>
            </a:r>
          </a:p>
          <a:p>
            <a:pPr algn="l"/>
            <a:r>
              <a:rPr sz="1200" b="0">
                <a:solidFill>
                  <a:srgbClr val="0D1117"/>
                </a:solidFill>
                <a:latin typeface="Helvetica Neue"/>
              </a:rPr>
              <a:t>Only the first three rows were measured by us on identical data. The rest are cited from their</a:t>
            </a:r>
          </a:p>
          <a:p>
            <a:pPr algn="l"/>
            <a:r>
              <a:rPr sz="1200" b="0">
                <a:solidFill>
                  <a:srgbClr val="0D1117"/>
                </a:solidFill>
                <a:latin typeface="Helvetica Neue"/>
              </a:rPr>
              <a:t>publications — we do not claim head-to-head numbers against models we did not run.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650D"/>
                </a:solidFill>
                <a:latin typeface="Helvetica Neue"/>
              </a:rPr>
              <a:t>Honesty boundary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4000"/>
            </a:avLst>
          </a:prstGeom>
          <a:solidFill>
            <a:srgbClr val="16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Head-to-head — Wald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B8CFDD"/>
                </a:solidFill>
                <a:latin typeface="Helvetica Neue"/>
              </a:rPr>
              <a:t>Clean test tile, ~1200 km from any training data · degrade ×4 → super-resolve → score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029200"/>
            <a:ext cx="11155680" cy="1280160"/>
          </a:xfrm>
          <a:prstGeom prst="roundRect">
            <a:avLst>
              <a:gd name="adj" fmla="val 4000"/>
            </a:avLst>
          </a:prstGeom>
          <a:solidFill>
            <a:srgbClr val="E6F2E9"/>
          </a:solidFill>
          <a:ln w="12700">
            <a:solidFill>
              <a:srgbClr val="A8C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9379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>
                <a:solidFill>
                  <a:srgbClr val="1D7A3E"/>
                </a:solidFill>
                <a:latin typeface="Helvetica Neue"/>
              </a:rPr>
              <a:t>First on all four metrics simultaneously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559552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0D1117"/>
                </a:solidFill>
                <a:latin typeface="Helvetica Neue"/>
              </a:rPr>
              <a:t>Accuracy, structure, spectral fidelity and error — no trade-off to explain. LDSR-S2 is second on</a:t>
            </a:r>
          </a:p>
          <a:p>
            <a:pPr algn="l"/>
            <a:r>
              <a:rPr sz="1150" b="0">
                <a:solidFill>
                  <a:srgbClr val="0D1117"/>
                </a:solidFill>
                <a:latin typeface="Helvetica Neue"/>
              </a:rPr>
              <a:t>PSNR but worst on spectral angle (2.370° vs our 1.808°) and 3,500× slower.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7" y="1097280"/>
            <a:ext cx="11247120" cy="30152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4000"/>
            </a:avLst>
          </a:prstGeom>
          <a:solidFill>
            <a:srgbClr val="16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Head-to-head — same-sensor S2→S2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B8CFDD"/>
                </a:solidFill>
                <a:latin typeface="Helvetica Neue"/>
              </a:rPr>
              <a:t>400 patches, held-out locations · real Sentinel-2 on both sides · the selection instrument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074920"/>
            <a:ext cx="11155680" cy="1234440"/>
          </a:xfrm>
          <a:prstGeom prst="roundRect">
            <a:avLst>
              <a:gd name="adj" fmla="val 4000"/>
            </a:avLst>
          </a:prstGeom>
          <a:solidFill>
            <a:srgbClr val="F4F8FA"/>
          </a:solidFill>
          <a:ln w="12700">
            <a:solidFill>
              <a:srgbClr val="C5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23036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6506B"/>
                </a:solidFill>
                <a:latin typeface="Helvetica Neue"/>
              </a:rPr>
              <a:t>Why a third instrument exists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559552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0D1117"/>
                </a:solidFill>
                <a:latin typeface="Helvetica Neue"/>
              </a:rPr>
              <a:t>The SEN2VENµS split scores a cross-sensor task; the Wald tile is one scene and is the final test.</a:t>
            </a:r>
          </a:p>
          <a:p>
            <a:pPr algn="l"/>
            <a:r>
              <a:rPr sz="1150" b="0">
                <a:solidFill>
                  <a:srgbClr val="0D1117"/>
                </a:solidFill>
                <a:latin typeface="Helvetica Neue"/>
              </a:rPr>
              <a:t>This one is neither — and in our ablation the arm that won on SEN2VENµS came LAST here.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728" y="1170432"/>
            <a:ext cx="9692640" cy="34067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4000"/>
            </a:avLst>
          </a:prstGeom>
          <a:solidFill>
            <a:srgbClr val="16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The claim that matters — does the analysis improve?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B8CFDD"/>
                </a:solidFill>
                <a:latin typeface="Helvetica Neue"/>
              </a:rPr>
              <a:t>Boundary F1 against analyses of real VENµS 5 m imagery · no degradation operator involved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212080"/>
            <a:ext cx="11155680" cy="1097280"/>
          </a:xfrm>
          <a:prstGeom prst="roundRect">
            <a:avLst>
              <a:gd name="adj" fmla="val 4000"/>
            </a:avLst>
          </a:prstGeom>
          <a:solidFill>
            <a:srgbClr val="E6F2E9"/>
          </a:solidFill>
          <a:ln w="12700">
            <a:solidFill>
              <a:srgbClr val="A8C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67528"/>
            <a:ext cx="10607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1D7A3E"/>
                </a:solidFill>
                <a:latin typeface="Helvetica Neue"/>
              </a:rPr>
              <a:t>Not “the image is sharper” — “the analysis is better”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0D1117"/>
                </a:solidFill>
                <a:latin typeface="Helvetica Neue"/>
              </a:rPr>
              <a:t>The problem statement asks for improved analytical utility. This is that claim, measured against</a:t>
            </a:r>
          </a:p>
          <a:p>
            <a:pPr algn="l"/>
            <a:r>
              <a:rPr sz="1150" b="0">
                <a:solidFill>
                  <a:srgbClr val="0D1117"/>
                </a:solidFill>
                <a:latin typeface="Helvetica Neue"/>
              </a:rPr>
              <a:t>genuine high-resolution satellite imagery rather than a synthetic proxy.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3581" y="1051560"/>
            <a:ext cx="7710932" cy="40690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4000"/>
            </a:avLst>
          </a:prstGeom>
          <a:solidFill>
            <a:srgbClr val="16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Quality vs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B8CFDD"/>
                </a:solidFill>
                <a:latin typeface="Helvetica Neue"/>
              </a:rPr>
              <a:t>Same axis both ways: best accuracy and practical inference speed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108960" y="4937760"/>
          <a:ext cx="5943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005840"/>
                <a:gridCol w="137160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Helvetica Neue"/>
                        </a:rPr>
                        <a:t>Branch</a:t>
                      </a:r>
                    </a:p>
                  </a:txBody>
                  <a:tcPr anchor="ctr" marL="82296" marT="18288" marB="18288">
                    <a:solidFill>
                      <a:srgbClr val="1650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 Neue"/>
                        </a:rPr>
                        <a:t>PSNR</a:t>
                      </a:r>
                    </a:p>
                  </a:txBody>
                  <a:tcPr anchor="ctr" marL="82296" marT="18288" marB="18288">
                    <a:solidFill>
                      <a:srgbClr val="1650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 Neue"/>
                        </a:rPr>
                        <a:t>Time / tile</a:t>
                      </a:r>
                    </a:p>
                  </a:txBody>
                  <a:tcPr anchor="ctr" marL="82296" marT="18288" marB="18288">
                    <a:solidFill>
                      <a:srgbClr val="1650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 Neue"/>
                        </a:rPr>
                        <a:t>Verdict</a:t>
                      </a:r>
                    </a:p>
                  </a:txBody>
                  <a:tcPr anchor="ctr" marL="82296" marT="18288" marB="18288">
                    <a:solidFill>
                      <a:srgbClr val="16506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bicubic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32.68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&lt; 1 ms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Fast, no detail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SEN2SR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33.21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40 ms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Good, constrained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LDSR-S2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33.27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105.6 s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Sharp but slow + worst SAM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4532D"/>
                          </a:solidFill>
                          <a:latin typeface="Helvetica Neue"/>
                        </a:rPr>
                        <a:t>Ours</a:t>
                      </a:r>
                    </a:p>
                  </a:txBody>
                  <a:tcPr anchor="ctr" marL="82296" marT="18288" marB="18288">
                    <a:solidFill>
                      <a:srgbClr val="E6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532D"/>
                          </a:solidFill>
                          <a:latin typeface="Helvetica Neue"/>
                        </a:rPr>
                        <a:t>33.68</a:t>
                      </a:r>
                    </a:p>
                  </a:txBody>
                  <a:tcPr anchor="ctr" marL="82296" marT="18288" marB="18288">
                    <a:solidFill>
                      <a:srgbClr val="E6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532D"/>
                          </a:solidFill>
                          <a:latin typeface="Helvetica Neue"/>
                        </a:rPr>
                        <a:t>30 ms</a:t>
                      </a:r>
                    </a:p>
                  </a:txBody>
                  <a:tcPr anchor="ctr" marL="82296" marT="18288" marB="18288">
                    <a:solidFill>
                      <a:srgbClr val="E6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4532D"/>
                          </a:solidFill>
                          <a:latin typeface="Helvetica Neue"/>
                        </a:rPr>
                        <a:t>Best quality, interactive</a:t>
                      </a:r>
                    </a:p>
                  </a:txBody>
                  <a:tcPr anchor="ctr" marL="82296" marT="18288" marB="18288">
                    <a:solidFill>
                      <a:srgbClr val="E6F2E9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031" y="1024128"/>
            <a:ext cx="6246033" cy="3794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4000"/>
            </a:avLst>
          </a:prstGeom>
          <a:solidFill>
            <a:srgbClr val="16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Data-wise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B8CFDD"/>
                </a:solidFill>
                <a:latin typeface="Helvetica Neue"/>
              </a:rPr>
              <a:t>What each model learned from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88720"/>
          <a:ext cx="11155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926080"/>
                <a:gridCol w="2743200"/>
                <a:gridCol w="329184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anchor="ctr" marL="82296" marT="18288" marB="18288">
                    <a:solidFill>
                      <a:srgbClr val="1650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SEN2SR</a:t>
                      </a:r>
                    </a:p>
                  </a:txBody>
                  <a:tcPr anchor="ctr" marL="82296" marT="18288" marB="18288">
                    <a:solidFill>
                      <a:srgbClr val="1650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LDSR-S2</a:t>
                      </a:r>
                    </a:p>
                  </a:txBody>
                  <a:tcPr anchor="ctr" marL="82296" marT="18288" marB="18288">
                    <a:solidFill>
                      <a:srgbClr val="1650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Helvetica Neue"/>
                        </a:rPr>
                        <a:t>Ours</a:t>
                      </a:r>
                    </a:p>
                  </a:txBody>
                  <a:tcPr anchor="ctr" marL="82296" marT="18288" marB="18288">
                    <a:solidFill>
                      <a:srgbClr val="16506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Training pairs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SEN2NAIP (S2 ↔ NAIP aerial)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SEN2NAIP-derived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SEN2VENµS (S2 ↔ VENµS satellite)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Geography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United States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United States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5 biomes incl. INDIA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4532D"/>
                          </a:solidFill>
                          <a:latin typeface="Helvetica Neue"/>
                        </a:rPr>
                        <a:t>Indian terrain</a:t>
                      </a:r>
                    </a:p>
                  </a:txBody>
                  <a:tcPr anchor="ctr" marL="82296" marT="18288" marB="18288">
                    <a:solidFill>
                      <a:srgbClr val="E6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4532D"/>
                          </a:solidFill>
                          <a:latin typeface="Helvetica Neue"/>
                        </a:rPr>
                        <a:t>None</a:t>
                      </a:r>
                    </a:p>
                  </a:txBody>
                  <a:tcPr anchor="ctr" marL="82296" marT="18288" marB="18288">
                    <a:solidFill>
                      <a:srgbClr val="E6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4532D"/>
                          </a:solidFill>
                          <a:latin typeface="Helvetica Neue"/>
                        </a:rPr>
                        <a:t>None</a:t>
                      </a:r>
                    </a:p>
                  </a:txBody>
                  <a:tcPr anchor="ctr" marL="82296" marT="18288" marB="18288">
                    <a:solidFill>
                      <a:srgbClr val="E6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4532D"/>
                          </a:solidFill>
                          <a:latin typeface="Helvetica Neue"/>
                        </a:rPr>
                        <a:t>4,000 patches (Telangana)</a:t>
                      </a:r>
                    </a:p>
                  </a:txBody>
                  <a:tcPr anchor="ctr" marL="82296" marT="18288" marB="18288">
                    <a:solidFill>
                      <a:srgbClr val="E6F2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Pair realism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Harmonised synthetic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Harmonised synthetic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Same-day real satellite pairs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Training patches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undisclosed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undisclosed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0D1117"/>
                          </a:solidFill>
                          <a:latin typeface="Helvetica Neue"/>
                        </a:rPr>
                        <a:t>8,640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35508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8B949E"/>
                </a:solidFill>
                <a:latin typeface="Helvetica Neue"/>
              </a:rPr>
              <a:t>Same-day pairing matters: Puri &amp; Kotze (2022) traced invented objects to a 25–30 day acquisition gap — the model learned change as detail.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3646" y="3520440"/>
            <a:ext cx="5370803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4000"/>
            </a:avLst>
          </a:prstGeom>
          <a:solidFill>
            <a:srgbClr val="16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Feature-wise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B8CFDD"/>
                </a:solidFill>
                <a:latin typeface="Helvetica Neue"/>
              </a:rPr>
              <a:t>Capabilities, not just accuracy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1143000"/>
          <a:ext cx="94183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280160"/>
                <a:gridCol w="1645920"/>
                <a:gridCol w="164592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Helvetica Neue"/>
                        </a:rPr>
                        <a:t>Capability</a:t>
                      </a:r>
                    </a:p>
                  </a:txBody>
                  <a:tcPr anchor="ctr" marL="82296" marT="18288" marB="18288">
                    <a:solidFill>
                      <a:srgbClr val="1650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 Neue"/>
                        </a:rPr>
                        <a:t>bicubic</a:t>
                      </a:r>
                    </a:p>
                  </a:txBody>
                  <a:tcPr anchor="ctr" marL="82296" marT="18288" marB="18288">
                    <a:solidFill>
                      <a:srgbClr val="1650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 Neue"/>
                        </a:rPr>
                        <a:t>SEN2SR</a:t>
                      </a:r>
                    </a:p>
                  </a:txBody>
                  <a:tcPr anchor="ctr" marL="82296" marT="18288" marB="18288">
                    <a:solidFill>
                      <a:srgbClr val="1650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 Neue"/>
                        </a:rPr>
                        <a:t>LDSR-S2</a:t>
                      </a:r>
                    </a:p>
                  </a:txBody>
                  <a:tcPr anchor="ctr" marL="82296" marT="18288" marB="18288">
                    <a:solidFill>
                      <a:srgbClr val="1650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Helvetica Neue"/>
                        </a:rPr>
                        <a:t>Ours</a:t>
                      </a:r>
                    </a:p>
                  </a:txBody>
                  <a:tcPr anchor="ctr" marL="82296" marT="18288" marB="18288">
                    <a:solidFill>
                      <a:srgbClr val="16506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×4 to 2.5 m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Per-pixel uncertainty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sampling σ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4-signal fused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Calibration validated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YES (§7.5)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Physical consistency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implicit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hard constraint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trained-in loss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Spectral angle optimised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yes (loss term)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Interactive speed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NO (105 s)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yes (30 ms)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Cloud masking built in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yes (SCL)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Footprint verified per product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yes (0.00 m)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Downstream task evaluated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no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0D1117"/>
                          </a:solidFill>
                          <a:latin typeface="Helvetica Neue"/>
                        </a:rPr>
                        <a:t>yes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1371600" y="5715000"/>
            <a:ext cx="9418320" cy="777240"/>
          </a:xfrm>
          <a:prstGeom prst="roundRect">
            <a:avLst>
              <a:gd name="adj" fmla="val 4000"/>
            </a:avLst>
          </a:prstGeom>
          <a:solidFill>
            <a:srgbClr val="F4F8FA"/>
          </a:solidFill>
          <a:ln w="12700">
            <a:solidFill>
              <a:srgbClr val="C5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00200" y="5870448"/>
            <a:ext cx="90525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0D1117"/>
                </a:solidFill>
                <a:latin typeface="Helvetica Neue"/>
              </a:rPr>
              <a:t>The bottom five rows are where the real difference is. Other models super-resolve.</a:t>
            </a:r>
          </a:p>
          <a:p>
            <a:pPr algn="l"/>
            <a:r>
              <a:rPr sz="1150" b="0">
                <a:solidFill>
                  <a:srgbClr val="0D1117"/>
                </a:solidFill>
                <a:latin typeface="Helvetica Neue"/>
              </a:rPr>
              <a:t>Ours super-resolves and tells you where not to trust the result.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4000"/>
            </a:avLst>
          </a:prstGeom>
          <a:solidFill>
            <a:srgbClr val="16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What we built, and what we stood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B8CFDD"/>
                </a:solidFill>
                <a:latin typeface="Helvetica Neue"/>
              </a:rPr>
              <a:t>A reviewer can check this in one file — so we state it first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188720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67512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Component</a:t>
                      </a:r>
                    </a:p>
                  </a:txBody>
                  <a:tcPr anchor="ctr" marL="82296" marT="18288" marB="18288">
                    <a:solidFill>
                      <a:srgbClr val="1650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Origin</a:t>
                      </a:r>
                    </a:p>
                  </a:txBody>
                  <a:tcPr anchor="ctr" marL="82296" marT="18288" marB="18288">
                    <a:solidFill>
                      <a:srgbClr val="16506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0D1117"/>
                          </a:solidFill>
                          <a:latin typeface="Helvetica Neue"/>
                        </a:rPr>
                        <a:t>SPAN CNN backbone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0D1117"/>
                          </a:solidFill>
                          <a:latin typeface="Helvetica Neue"/>
                        </a:rPr>
                        <a:t>NOT ours — imported from ESA's sen2sr package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0D1117"/>
                          </a:solidFill>
                          <a:latin typeface="Helvetica Neue"/>
                        </a:rPr>
                        <a:t>Initial weights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0D1117"/>
                          </a:solidFill>
                          <a:latin typeface="Helvetica Neue"/>
                        </a:rPr>
                        <a:t>NOT ours — warm-started from SEN2SRLite, 204/204 tensors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0D1117"/>
                          </a:solidFill>
                          <a:latin typeface="Helvetica Neue"/>
                        </a:rPr>
                        <a:t>Trained weights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0D1117"/>
                          </a:solidFill>
                          <a:latin typeface="Helvetica Neue"/>
                        </a:rPr>
                        <a:t>OURS — 8,640 patches, 5 sites, 50 epochs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0D1117"/>
                          </a:solidFill>
                          <a:latin typeface="Helvetica Neue"/>
                        </a:rPr>
                        <a:t>Training regime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0D1117"/>
                          </a:solidFill>
                          <a:latin typeface="Helvetica Neue"/>
                        </a:rPr>
                        <a:t>OURS — India capped at 4,000; ×4 pairing via the S2 PSF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0D1117"/>
                          </a:solidFill>
                          <a:latin typeface="Helvetica Neue"/>
                        </a:rPr>
                        <a:t>Loss function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0D1117"/>
                          </a:solidFill>
                          <a:latin typeface="Helvetica Neue"/>
                        </a:rPr>
                        <a:t>OURS — L1 + PSF-consistency + spectral angle + gradient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0D1117"/>
                          </a:solidFill>
                          <a:latin typeface="Helvetica Neue"/>
                        </a:rPr>
                        <a:t>Trust layer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0D1117"/>
                          </a:solidFill>
                          <a:latin typeface="Helvetica Neue"/>
                        </a:rPr>
                        <a:t>OURS — strongest original contribution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0D1117"/>
                          </a:solidFill>
                          <a:latin typeface="Helvetica Neue"/>
                        </a:rPr>
                        <a:t>Three-instrument evaluation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0D1117"/>
                          </a:solidFill>
                          <a:latin typeface="Helvetica Neue"/>
                        </a:rPr>
                        <a:t>OURS — found the cross-sensor split disagrees with real S2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2960" y="4434840"/>
            <a:ext cx="10515600" cy="1874519"/>
          </a:xfrm>
          <a:prstGeom prst="roundRect">
            <a:avLst>
              <a:gd name="adj" fmla="val 4000"/>
            </a:avLst>
          </a:prstGeom>
          <a:solidFill>
            <a:srgbClr val="F4F8FA"/>
          </a:solidFill>
          <a:ln w="12700">
            <a:solidFill>
              <a:srgbClr val="C5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617720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6506B"/>
                </a:solidFill>
                <a:latin typeface="Helvetica Neue"/>
              </a:rPr>
              <a:t>The claim we make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983480"/>
            <a:ext cx="996696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0D1117"/>
                </a:solidFill>
                <a:latin typeface="Helvetica Neue"/>
              </a:rPr>
              <a:t>We did not invent an architecture. We took ESA's published, open, state-of-the-art backbone and asked a</a:t>
            </a:r>
          </a:p>
          <a:p>
            <a:pPr algn="l"/>
            <a:r>
              <a:rPr sz="1200" b="0">
                <a:solidFill>
                  <a:srgbClr val="0D1117"/>
                </a:solidFill>
                <a:latin typeface="Helvetica Neue"/>
              </a:rPr>
              <a:t>different question: not how to sharpen better, but how to make sharpening trustworthy.</a:t>
            </a:r>
          </a:p>
          <a:p>
            <a:pPr algn="l"/>
            <a:r>
              <a:rPr sz="1200" b="0">
                <a:solidFill>
                  <a:srgbClr val="0D1117"/>
                </a:solidFill>
                <a:latin typeface="Helvetica Neue"/>
              </a:rPr>
              <a:t/>
            </a:r>
          </a:p>
          <a:p>
            <a:pPr algn="l"/>
            <a:r>
              <a:rPr sz="1200" b="0">
                <a:solidFill>
                  <a:srgbClr val="0D1117"/>
                </a:solidFill>
                <a:latin typeface="Helvetica Neue"/>
              </a:rPr>
              <a:t>The result beats the ESA baseline whose backbone we borrowed — on every metric, on three instruments —</a:t>
            </a:r>
          </a:p>
          <a:p>
            <a:pPr algn="l"/>
            <a:r>
              <a:rPr sz="1200" b="0">
                <a:solidFill>
                  <a:srgbClr val="0D1117"/>
                </a:solidFill>
                <a:latin typeface="Helvetica Neue"/>
              </a:rPr>
              <a:t>by training and objective alone.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4000"/>
            </a:avLst>
          </a:prstGeom>
          <a:solidFill>
            <a:srgbClr val="16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Caveats we raise ourselves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B8CFDD"/>
                </a:solidFill>
                <a:latin typeface="Helvetica Neue"/>
              </a:rPr>
              <a:t>Before a reviewer raises them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11064240" cy="1170432"/>
          </a:xfrm>
          <a:prstGeom prst="roundRect">
            <a:avLst>
              <a:gd name="adj" fmla="val 4000"/>
            </a:avLst>
          </a:prstGeom>
          <a:solidFill>
            <a:srgbClr val="FDF6EC"/>
          </a:solidFill>
          <a:ln w="12700">
            <a:solidFill>
              <a:srgbClr val="E6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71016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96650D"/>
                </a:solidFill>
                <a:latin typeface="Helvetica Neue"/>
              </a:rPr>
              <a:t>We are tested on our own degradation operator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18488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D1117"/>
                </a:solidFill>
                <a:latin typeface="Helvetica Neue"/>
              </a:rPr>
              <a:t>The Wald benchmark uses the same Sentinel-2 PSF our ×4 training pairs were built from; SEN2SR was trained on a different one. That favours us. The downstream result on slide 5 involves no degradation operator and shows the same ordering.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41448"/>
            <a:ext cx="11064240" cy="1170432"/>
          </a:xfrm>
          <a:prstGeom prst="roundRect">
            <a:avLst>
              <a:gd name="adj" fmla="val 4000"/>
            </a:avLst>
          </a:prstGeom>
          <a:solidFill>
            <a:srgbClr val="FDF6EC"/>
          </a:solidFill>
          <a:ln w="12700">
            <a:solidFill>
              <a:srgbClr val="E6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69464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96650D"/>
                </a:solidFill>
                <a:latin typeface="Helvetica Neue"/>
              </a:rPr>
              <a:t>Telangana scenes are training ground, not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16936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D1117"/>
                </a:solidFill>
                <a:latin typeface="Helvetica Neue"/>
              </a:rPr>
              <a:t>They sit inside KUDALIAR tile 44QKE. Every figure from them is a qualitative demonstration; all quantitative claims use held-out data or a tile 1,200 km away.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39896"/>
            <a:ext cx="11064240" cy="1170432"/>
          </a:xfrm>
          <a:prstGeom prst="roundRect">
            <a:avLst>
              <a:gd name="adj" fmla="val 4000"/>
            </a:avLst>
          </a:prstGeom>
          <a:solidFill>
            <a:srgbClr val="FDF6EC"/>
          </a:solidFill>
          <a:ln w="12700">
            <a:solidFill>
              <a:srgbClr val="E6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867911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96650D"/>
                </a:solidFill>
                <a:latin typeface="Helvetica Neue"/>
              </a:rPr>
              <a:t>Trust-layer calibration is weaker than we first published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215383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D1117"/>
                </a:solidFill>
                <a:latin typeface="Helvetica Neue"/>
              </a:rPr>
              <a:t>r = −0.23, non-monotonic in the middle. An earlier draft said −0.43 — measured on a model carrying a tiling defect whose large errors were easy to predict. The top decile still has 3.4× lower error.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038344"/>
            <a:ext cx="11064240" cy="1170432"/>
          </a:xfrm>
          <a:prstGeom prst="roundRect">
            <a:avLst>
              <a:gd name="adj" fmla="val 4000"/>
            </a:avLst>
          </a:prstGeom>
          <a:solidFill>
            <a:srgbClr val="FDF6EC"/>
          </a:solidFill>
          <a:ln w="12700">
            <a:solidFill>
              <a:srgbClr val="E6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166359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96650D"/>
                </a:solidFill>
                <a:latin typeface="Helvetica Neue"/>
              </a:rPr>
              <a:t>ERGAS is worse than both baselines on one instrument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513831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D1117"/>
                </a:solidFill>
                <a:latin typeface="Helvetica Neue"/>
              </a:rPr>
              <a:t>Better on the Wald tile, worse on same-sensor. Unresolved; we do not claim that metric.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841248"/>
          </a:xfrm>
          <a:prstGeom prst="roundRect">
            <a:avLst>
              <a:gd name="adj" fmla="val 4000"/>
            </a:avLst>
          </a:prstGeom>
          <a:solidFill>
            <a:srgbClr val="165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Helvetica Neue"/>
              </a:rPr>
              <a:t>How we found our own biggest 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B8CFDD"/>
                </a:solidFill>
                <a:latin typeface="Helvetica Neue"/>
              </a:rPr>
              <a:t>The result we published for two weeks was wrong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FBEAEA"/>
          </a:solidFill>
          <a:ln w="12700">
            <a:solidFill>
              <a:srgbClr val="B334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32588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B3341F"/>
                </a:solidFill>
                <a:latin typeface="Helvetica Neue"/>
              </a:rPr>
              <a:t>np.hanning(2n) starts at exactly 0.0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0D1117"/>
                </a:solidFill>
                <a:latin typeface="Helvetica Neue"/>
              </a:rPr>
              <a:t>Our tile-blending window zeroed the first row and column of every tiled output. It hit every branch that</a:t>
            </a:r>
          </a:p>
          <a:p>
            <a:pPr algn="l"/>
            <a:r>
              <a:rPr sz="1150" b="0">
                <a:solidFill>
                  <a:srgbClr val="0D1117"/>
                </a:solidFill>
                <a:latin typeface="Helvetica Neue"/>
              </a:rPr>
              <a:t>tiles — ours and SEN2SR — but not bicubic. Cost: ~4.5 dB PSNR on a 128 px output.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645920" y="2743200"/>
          <a:ext cx="8869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017520"/>
                <a:gridCol w="283464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anchor="ctr" marL="82296" marT="18288" marB="18288">
                    <a:solidFill>
                      <a:srgbClr val="1650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Reported before</a:t>
                      </a:r>
                    </a:p>
                  </a:txBody>
                  <a:tcPr anchor="ctr" marL="82296" marT="18288" marB="18288">
                    <a:solidFill>
                      <a:srgbClr val="1650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After the fix</a:t>
                      </a:r>
                    </a:p>
                  </a:txBody>
                  <a:tcPr anchor="ctr" marL="82296" marT="18288" marB="18288">
                    <a:solidFill>
                      <a:srgbClr val="16506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4532D"/>
                          </a:solidFill>
                          <a:latin typeface="Helvetica Neue"/>
                        </a:rPr>
                        <a:t>Ours — PSNR</a:t>
                      </a:r>
                    </a:p>
                  </a:txBody>
                  <a:tcPr anchor="ctr" marL="82296" marT="18288" marB="18288">
                    <a:solidFill>
                      <a:srgbClr val="E6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14532D"/>
                          </a:solidFill>
                          <a:latin typeface="Helvetica Neue"/>
                        </a:rPr>
                        <a:t>31.60  (lost to bicubic)</a:t>
                      </a:r>
                    </a:p>
                  </a:txBody>
                  <a:tcPr anchor="ctr" marL="82296" marT="18288" marB="18288">
                    <a:solidFill>
                      <a:srgbClr val="E6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14532D"/>
                          </a:solidFill>
                          <a:latin typeface="Helvetica Neue"/>
                        </a:rPr>
                        <a:t>33.68  (first)</a:t>
                      </a:r>
                    </a:p>
                  </a:txBody>
                  <a:tcPr anchor="ctr" marL="82296" marT="18288" marB="18288">
                    <a:solidFill>
                      <a:srgbClr val="E6F2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0D1117"/>
                          </a:solidFill>
                          <a:latin typeface="Helvetica Neue"/>
                        </a:rPr>
                        <a:t>Ours — SSIM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0D1117"/>
                          </a:solidFill>
                          <a:latin typeface="Helvetica Neue"/>
                        </a:rPr>
                        <a:t>0.8363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0D1117"/>
                          </a:solidFill>
                          <a:latin typeface="Helvetica Neue"/>
                        </a:rPr>
                        <a:t>0.8406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0D1117"/>
                          </a:solidFill>
                          <a:latin typeface="Helvetica Neue"/>
                        </a:rPr>
                        <a:t>Field-boundary F1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0D1117"/>
                          </a:solidFill>
                          <a:latin typeface="Helvetica Neue"/>
                        </a:rPr>
                        <a:t>0.908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0D1117"/>
                          </a:solidFill>
                          <a:latin typeface="Helvetica Neue"/>
                        </a:rPr>
                        <a:t>0.917</a:t>
                      </a:r>
                    </a:p>
                  </a:txBody>
                  <a:tcPr anchor="ctr" marL="82296" marT="18288" marB="18288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0D1117"/>
                          </a:solidFill>
                          <a:latin typeface="Helvetica Neue"/>
                        </a:rPr>
                        <a:t>Narrative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0D1117"/>
                          </a:solidFill>
                          <a:latin typeface="Helvetica Neue"/>
                        </a:rPr>
                        <a:t>“we trade PSNR for fidelity”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0D1117"/>
                          </a:solidFill>
                          <a:latin typeface="Helvetica Neue"/>
                        </a:rPr>
                        <a:t>no trade-off exists</a:t>
                      </a:r>
                    </a:p>
                  </a:txBody>
                  <a:tcPr anchor="ctr" marL="82296" marT="18288" marB="18288">
                    <a:solidFill>
                      <a:srgbClr val="FAFB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892040"/>
            <a:ext cx="11064240" cy="1417320"/>
          </a:xfrm>
          <a:prstGeom prst="roundRect">
            <a:avLst>
              <a:gd name="adj" fmla="val 4000"/>
            </a:avLst>
          </a:prstGeom>
          <a:solidFill>
            <a:srgbClr val="F4F8FA"/>
          </a:solidFill>
          <a:ln w="12700">
            <a:solidFill>
              <a:srgbClr val="C5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0749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6506B"/>
                </a:solidFill>
                <a:latin typeface="Helvetica Neue"/>
              </a:rPr>
              <a:t>Why this belongs in the deck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422392"/>
            <a:ext cx="1051560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>
                <a:solidFill>
                  <a:srgbClr val="0D1117"/>
                </a:solidFill>
                <a:latin typeface="Helvetica Neue"/>
              </a:rPr>
              <a:t>It produced a plausible, publishable, wrong conclusion that we believed for two weeks. It was caught by</a:t>
            </a:r>
          </a:p>
          <a:p>
            <a:pPr algn="l"/>
            <a:r>
              <a:rPr sz="1150" b="0">
                <a:solidFill>
                  <a:srgbClr val="0D1117"/>
                </a:solidFill>
                <a:latin typeface="Helvetica Neue"/>
              </a:rPr>
              <a:t>refusing to accept a baseline beating every learned model by 2.7 dB. Every number here was re-measured</a:t>
            </a:r>
          </a:p>
          <a:p>
            <a:pPr algn="l"/>
            <a:r>
              <a:rPr sz="1150" b="0">
                <a:solidFill>
                  <a:srgbClr val="0D1117"/>
                </a:solidFill>
                <a:latin typeface="Helvetica Neue"/>
              </a:rPr>
              <a:t>afterwards, and each one now carries the instrument it was measured 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Helvetica Neue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5AA8D6"/>
                </a:solidFill>
                <a:latin typeface="Helvetica Neue"/>
              </a:rPr>
              <a:t>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210312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Helvetica Neue"/>
              </a:rPr>
              <a:t>First on every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432303"/>
            <a:ext cx="9875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8B949E"/>
                </a:solidFill>
                <a:latin typeface="Helvetica Neue"/>
              </a:rPr>
              <a:t>against bicubic, SEN2SR and LDSR-S2, on three independent instruments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803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5AA8D6"/>
                </a:solidFill>
                <a:latin typeface="Helvetica Neue"/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88036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Helvetica Neue"/>
              </a:rPr>
              <a:t>+14.7% field-boundary F1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209544"/>
            <a:ext cx="9875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8B949E"/>
                </a:solidFill>
                <a:latin typeface="Helvetica Neue"/>
              </a:rPr>
              <a:t>measured against analyses of real VENµS 5 m imagery — utility, not just sharpness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6576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5AA8D6"/>
                </a:solidFill>
                <a:latin typeface="Helvetica Neue"/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65760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Helvetica Neue"/>
              </a:rPr>
              <a:t>Trained on Indian terrain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986784"/>
            <a:ext cx="9875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8B949E"/>
                </a:solidFill>
                <a:latin typeface="Helvetica Neue"/>
              </a:rPr>
              <a:t>4,000 Telangana patches of 8,640 total, across five biomes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348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5AA8D6"/>
                </a:solidFill>
                <a:latin typeface="Helvetica Neue"/>
              </a:rPr>
              <a:t>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434840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Helvetica Neue"/>
              </a:rPr>
              <a:t>Uncertainty shipped inside the product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764024"/>
            <a:ext cx="9875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8B949E"/>
                </a:solidFill>
                <a:latin typeface="Helvetica Neue"/>
              </a:rPr>
              <a:t>confidence band in the same GeoTIFF — the pixels cannot be separated from their caveat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212079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>
                <a:solidFill>
                  <a:srgbClr val="5AA8D6"/>
                </a:solidFill>
                <a:latin typeface="Helvetica Neue"/>
              </a:rPr>
              <a:t>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5212079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Helvetica Neue"/>
              </a:rPr>
              <a:t>30 ms per tile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5541264"/>
            <a:ext cx="9875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8B949E"/>
                </a:solidFill>
                <a:latin typeface="Helvetica Neue"/>
              </a:rPr>
              <a:t>3,500× faster than the diffusion baseline, and more accurate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26364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A8D6"/>
                </a:solidFill>
                <a:latin typeface="Helvetica Neue"/>
              </a:rPr>
              <a:t>github.com/Vaibhav-Verma2115/sutram-srm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