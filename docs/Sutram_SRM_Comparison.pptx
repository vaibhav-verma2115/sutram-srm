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Helvetica Neue"/>
              </a:rPr>
              <a:t>Sutram SRM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AA8D6"/>
                </a:solidFill>
                <a:latin typeface="Helvetica Neue"/>
              </a:rPr>
              <a:t>Sentinel-2  10 m → 2.5 m  super-resolution with per-pixel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Helvetica Neue"/>
              </a:rPr>
              <a:t>Comparison and analysis against published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89120"/>
            <a:ext cx="3108960" cy="1097280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0.917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8CFDD"/>
                </a:solidFill>
                <a:latin typeface="Helvetica Neue"/>
              </a:rPr>
              <a:t>FIELD-BOUNDARY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389120"/>
            <a:ext cx="3108960" cy="1097280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572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1st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8CFDD"/>
                </a:solidFill>
                <a:latin typeface="Helvetica Neue"/>
              </a:rPr>
              <a:t>ON EVERY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389120"/>
            <a:ext cx="3108960" cy="1097280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572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0.00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8CFDD"/>
                </a:solidFill>
                <a:latin typeface="Helvetica Neue"/>
              </a:rPr>
              <a:t>GEOLOCATION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Team Sutram  ·  Smart India Hackathon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The landscape — what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Every open Sentinel-2 super-resolution model we evaluated or considered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920240"/>
                <a:gridCol w="1371600"/>
                <a:gridCol w="15544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Model / research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Params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Open?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Status here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SEN2SR  (Aybar et al., RSE 2025)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SPAN CNN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472 k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CC0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Benchmarked head-to-head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LDSR-S2  (Donike et al., JSTARS 2025)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Latent diffusion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169 M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Benchmarked head-to-head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Bicubic interpolation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Classical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Benchmarked (control)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S2DR3  (Gamma Earth)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Proprietary CNN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undisclosed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No — eval only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Cited, cannot benchmark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DiffFuSR  (arXiv 2506.11764)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Diffusion, 12-band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Open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Cited, not run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SRGAN on S2  (Puri &amp; Kotze, AGILE 2022)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GAN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Paper only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Cited as prior baseline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Ours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SPAN CNN, retrained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572 k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This work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89204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5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Honesty boundary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Only the first three rows were measured by us on identical data. The rest are cited from their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publications — we do not claim head-to-head numbers against models we did not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650D"/>
                </a:solidFill>
                <a:latin typeface="Helvetica Neue"/>
              </a:rPr>
              <a:t>Honesty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Head-to-head — Wald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Clean test tile, ~1200 km from any training data · degrade ×4 → super-resolve → score</a:t>
            </a:r>
          </a:p>
        </p:txBody>
      </p:sp>
      <p:pic>
        <p:nvPicPr>
          <p:cNvPr id="5" name="Picture 4" descr="w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338560" cy="30397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E6F2E9"/>
          </a:solidFill>
          <a:ln w="12700">
            <a:solidFill>
              <a:srgbClr val="A8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937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7A3E"/>
                </a:solidFill>
                <a:latin typeface="Helvetica Neue"/>
              </a:rPr>
              <a:t>First on all four metrics simultaneously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Accuracy, structure, spectral fidelity and error — no trade-off to explain. LDSR-S2 is second on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PSNR but worst on spectral angle (2.370° vs our 1.808°) and 3,500× slower.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Head-to-head — same-sensor S2→S2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400 patches, held-out locations · real Sentinel-2 on both sides · the selection instrument</a:t>
            </a:r>
          </a:p>
        </p:txBody>
      </p:sp>
      <p:pic>
        <p:nvPicPr>
          <p:cNvPr id="5" name="Picture 4" descr="s2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784080" cy="34388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5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2303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506B"/>
                </a:solidFill>
                <a:latin typeface="Helvetica Neue"/>
              </a:rPr>
              <a:t>Why a third instrument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The SEN2VENµS split scores a cross-sensor task; the Wald tile is one scene and is the final test.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This one is neither — and in our ablation the arm that won on SEN2VENµS came LAST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The claim that matters — does the analysis improve?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Boundary F1 against analyses of real VENµS 5 m imagery · no degradation operator involved</a:t>
            </a:r>
          </a:p>
        </p:txBody>
      </p:sp>
      <p:pic>
        <p:nvPicPr>
          <p:cNvPr id="5" name="Picture 4" descr="down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97280"/>
            <a:ext cx="9326880" cy="49218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E6F2E9"/>
          </a:solidFill>
          <a:ln w="12700">
            <a:solidFill>
              <a:srgbClr val="A8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675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D7A3E"/>
                </a:solidFill>
                <a:latin typeface="Helvetica Neue"/>
              </a:rPr>
              <a:t>Not “the image is sharper” — “the analysis is better”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The problem statement asks for improved analytical utility. This is that claim, measured against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genuine high-resolution satellite imagery rather than a synthetic proxy.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Quality vs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Same axis both ways: best accuracy and practical inference speed</a:t>
            </a:r>
          </a:p>
        </p:txBody>
      </p:sp>
      <p:pic>
        <p:nvPicPr>
          <p:cNvPr id="5" name="Picture 4" descr="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589520" cy="461099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08960" y="49377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Branch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PSNR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Time / tile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Verdict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bicubic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32.68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&lt; 1 ms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Fast, no detail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SEN2SR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33.21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40 ms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Good, constrained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LDSR-S2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33.27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105.6 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Sharp but slow + worst SAM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532D"/>
                          </a:solidFill>
                          <a:latin typeface="Helvetica Neue"/>
                        </a:rPr>
                        <a:t>Ours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532D"/>
                          </a:solidFill>
                          <a:latin typeface="Helvetica Neue"/>
                        </a:rPr>
                        <a:t>33.68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532D"/>
                          </a:solidFill>
                          <a:latin typeface="Helvetica Neue"/>
                        </a:rPr>
                        <a:t>30 ms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532D"/>
                          </a:solidFill>
                          <a:latin typeface="Helvetica Neue"/>
                        </a:rPr>
                        <a:t>Best quality, interactive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Data-wise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What each model learned from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74320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SEN2SR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LDSR-S2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Ours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Training pairs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SEN2NAIP (S2 ↔ NAIP aerial)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SEN2NAIP-derived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SEN2VENµS (S2 ↔ VENµS satellite)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Geography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United States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United States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5 biomes incl. INDIA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Indian terrain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532D"/>
                          </a:solidFill>
                          <a:latin typeface="Helvetica Neue"/>
                        </a:rPr>
                        <a:t>4,000 patches (Telangana)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Pair realism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Harmonised synthetic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Harmonised synthetic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Same-day real satellite pairs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Training patches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undisclosed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undisclosed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D1117"/>
                          </a:solidFill>
                          <a:latin typeface="Helvetica Neue"/>
                        </a:rPr>
                        <a:t>8,640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566160"/>
            <a:ext cx="7406640" cy="37199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49E"/>
                </a:solidFill>
                <a:latin typeface="Helvetica Neue"/>
              </a:rPr>
              <a:t>Same-day pairing matters: Puri &amp; Kotze (2022) traced invented objects to a 25–30 day acquisition gap — the model learned change as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Feature-wise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Capabilities, not just accuracy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1430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645920"/>
                <a:gridCol w="16459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Capability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bicubic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SEN2SR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LDSR-S2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Ours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×4 to 2.5 m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Per-pixel uncertainty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sampling σ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4-signal fused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Calibration validated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 (§7.5)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Physical consistency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implicit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hard constraint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trained-in loss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Spectral angle optimised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 (loss term)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Interactive speed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 (105 s)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 (30 ms)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Cloud masking built in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 (SCL)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Footprint verified per product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 (0.00 m)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Downstream task evaluated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D111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715000"/>
            <a:ext cx="9418320" cy="77724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5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5870448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The bottom five rows are where the real difference is. Other models super-resolve.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Ours super-resolves and tells you where not to trust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What we built, and what we stood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A reviewer can check this in one file — so we state it first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188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Component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Origin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SPAN CNN backbone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NOT ours — imported from ESA's sen2sr package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Initial weights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NOT ours — warm-started from SEN2SRLite, 204/204 tensors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Trained weights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OURS — 8,640 patches, 5 sites, 50 epochs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Training regime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OURS — India capped at 4,000; ×4 pairing via the S2 PSF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Loss function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OURS — L1 + PSF-consistency + spectral angle + gradient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Trust layer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OURS — strongest original contribution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Three-instrument evaluation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OURS — found the cross-sensor split disagrees with real S2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434840"/>
            <a:ext cx="10515600" cy="1874519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5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506B"/>
                </a:solidFill>
                <a:latin typeface="Helvetica Neue"/>
              </a:rPr>
              <a:t>The claim we make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99669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We did not invent an architecture. We took ESA's published, open, state-of-the-art backbone and asked a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different question: not how to sharpen better, but how to make sharpening trustworthy.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/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The result beats the ESA baseline whose backbone we borrowed — on every metric, on three instruments —</a:t>
            </a:r>
          </a:p>
          <a:p>
            <a:pPr algn="l"/>
            <a:r>
              <a:rPr sz="1200" b="0">
                <a:solidFill>
                  <a:srgbClr val="0D1117"/>
                </a:solidFill>
                <a:latin typeface="Helvetica Neue"/>
              </a:rPr>
              <a:t>by training and objective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Caveats we raise ourselves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Before a reviewer raises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1064240" cy="1170432"/>
          </a:xfrm>
          <a:prstGeom prst="roundRect">
            <a:avLst>
              <a:gd name="adj" fmla="val 4000"/>
            </a:avLst>
          </a:prstGeom>
          <a:solidFill>
            <a:srgbClr val="FDF6EC"/>
          </a:solidFill>
          <a:ln w="12700">
            <a:solidFill>
              <a:srgbClr val="E6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71016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6650D"/>
                </a:solidFill>
                <a:latin typeface="Helvetica Neue"/>
              </a:rPr>
              <a:t>We are tested on our own degradation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Helvetica Neue"/>
              </a:rPr>
              <a:t>The Wald benchmark uses the same Sentinel-2 PSF our ×4 training pairs were built from; SEN2SR was trained on a different one. That favours us. The downstream result on slide 5 involves no degradation operator and shows the same ordering.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41448"/>
            <a:ext cx="11064240" cy="1170432"/>
          </a:xfrm>
          <a:prstGeom prst="roundRect">
            <a:avLst>
              <a:gd name="adj" fmla="val 4000"/>
            </a:avLst>
          </a:prstGeom>
          <a:solidFill>
            <a:srgbClr val="FDF6EC"/>
          </a:solidFill>
          <a:ln w="12700">
            <a:solidFill>
              <a:srgbClr val="E6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946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6650D"/>
                </a:solidFill>
                <a:latin typeface="Helvetica Neue"/>
              </a:rPr>
              <a:t>Telangana scenes are training ground, not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Helvetica Neue"/>
              </a:rPr>
              <a:t>They sit inside KUDALIAR tile 44QKE. Every figure from them is a qualitative demonstration; all quantitative claims use held-out data or a tile 1,200 km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39896"/>
            <a:ext cx="11064240" cy="1170432"/>
          </a:xfrm>
          <a:prstGeom prst="roundRect">
            <a:avLst>
              <a:gd name="adj" fmla="val 4000"/>
            </a:avLst>
          </a:prstGeom>
          <a:solidFill>
            <a:srgbClr val="FDF6EC"/>
          </a:solidFill>
          <a:ln w="12700">
            <a:solidFill>
              <a:srgbClr val="E6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67911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6650D"/>
                </a:solidFill>
                <a:latin typeface="Helvetica Neue"/>
              </a:rPr>
              <a:t>Trust-layer calibration is weaker than we first published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3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Helvetica Neue"/>
              </a:rPr>
              <a:t>r = −0.23, non-monotonic in the middle. An earlier draft said −0.43 — measured on a model carrying a tiling defect whose large errors were easy to predict. The top decile still has 3.4× lower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38344"/>
            <a:ext cx="11064240" cy="1170432"/>
          </a:xfrm>
          <a:prstGeom prst="roundRect">
            <a:avLst>
              <a:gd name="adj" fmla="val 4000"/>
            </a:avLst>
          </a:prstGeom>
          <a:solidFill>
            <a:srgbClr val="FDF6EC"/>
          </a:solidFill>
          <a:ln w="12700">
            <a:solidFill>
              <a:srgbClr val="E6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66359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6650D"/>
                </a:solidFill>
                <a:latin typeface="Helvetica Neue"/>
              </a:rPr>
              <a:t>ERGAS is worse than both baselines on one instrument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13831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D1117"/>
                </a:solidFill>
                <a:latin typeface="Helvetica Neue"/>
              </a:rPr>
              <a:t>Better on the Wald tile, worse on same-sensor. Unresolved; we do not claim that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41248"/>
          </a:xfrm>
          <a:prstGeom prst="roundRect">
            <a:avLst>
              <a:gd name="adj" fmla="val 4000"/>
            </a:avLst>
          </a:prstGeom>
          <a:solidFill>
            <a:srgbClr val="16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How we found our own biggest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FDD"/>
                </a:solidFill>
                <a:latin typeface="Helvetica Neue"/>
              </a:rPr>
              <a:t>The result we published for two weeks was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 w="12700">
            <a:solidFill>
              <a:srgbClr val="B33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3341F"/>
                </a:solidFill>
                <a:latin typeface="Helvetica Neue"/>
              </a:rPr>
              <a:t>np.hanning(2n) starts at exactly 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Our tile-blending window zeroed the first row and column of every tiled output. It hit every branch that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tiles — ours and SEN2SR — but not bicubic. Cost: ~4.5 dB PSNR on a 128 px output.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" y="2743200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Reported before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After the fix</a:t>
                      </a:r>
                    </a:p>
                  </a:txBody>
                  <a:tcPr anchor="ctr" marL="82296" marT="18288" marB="18288">
                    <a:solidFill>
                      <a:srgbClr val="1650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Helvetica Neue"/>
                        </a:rPr>
                        <a:t>Ours — PSNR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532D"/>
                          </a:solidFill>
                          <a:latin typeface="Helvetica Neue"/>
                        </a:rPr>
                        <a:t>31.60  (lost to bicubic)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532D"/>
                          </a:solidFill>
                          <a:latin typeface="Helvetica Neue"/>
                        </a:rPr>
                        <a:t>33.68  (first)</a:t>
                      </a:r>
                    </a:p>
                  </a:txBody>
                  <a:tcPr anchor="ctr" marL="82296" marT="18288" marB="18288">
                    <a:solidFill>
                      <a:srgbClr val="E6F2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Ours — SSIM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0.8363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0.8406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Field-boundary F1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0.908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0.917</a:t>
                      </a:r>
                    </a:p>
                  </a:txBody>
                  <a:tcPr anchor="ctr" marL="8229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Narrative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“we trade PSNR for fidelity”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D1117"/>
                          </a:solidFill>
                          <a:latin typeface="Helvetica Neue"/>
                        </a:rPr>
                        <a:t>no trade-off exists</a:t>
                      </a:r>
                    </a:p>
                  </a:txBody>
                  <a:tcPr anchor="ctr" marL="82296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5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506B"/>
                </a:solidFill>
                <a:latin typeface="Helvetica Neue"/>
              </a:rPr>
              <a:t>Why this belongs in the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2239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It produced a plausible, publishable, wrong conclusion that we believed for two weeks. It was caught by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refusing to accept a baseline beating every learned model by 2.7 dB. Every number here was re-measured</a:t>
            </a:r>
          </a:p>
          <a:p>
            <a:pPr algn="l"/>
            <a:r>
              <a:rPr sz="1150" b="0">
                <a:solidFill>
                  <a:srgbClr val="0D1117"/>
                </a:solidFill>
                <a:latin typeface="Helvetica Neue"/>
              </a:rPr>
              <a:t>afterwards, and each one now carries the instrument it was measured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Helvetica Neue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AA8D6"/>
                </a:solidFill>
                <a:latin typeface="Helvetica Neue"/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First on every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32303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against bicubic, SEN2SR and LDSR-S2, on three independent instruments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AA8D6"/>
                </a:solidFill>
                <a:latin typeface="Helvetica Neue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8036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+14.7% field-boundary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09544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measured against analyses of real VENµS 5 m imagery — utility, not just sharpness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AA8D6"/>
                </a:solidFill>
                <a:latin typeface="Helvetica Neue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57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Trained on Indian terrain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86784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4,000 Telangana patches of 8,640 total, across five biomes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AA8D6"/>
                </a:solidFill>
                <a:latin typeface="Helvetica Neue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348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Uncertainty shipped inside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64024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confidence band in the same GeoTIFF — the pixels cannot be separated from their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AA8D6"/>
                </a:solidFill>
                <a:latin typeface="Helvetica Neue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12079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30 ms per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541264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3,500× faster than the diffusion baseline, and more accurate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636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A8D6"/>
                </a:solidFill>
                <a:latin typeface="Helvetica Neue"/>
              </a:rPr>
              <a:t>github.com/Vaibhav-Verma2115/sutram-srm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